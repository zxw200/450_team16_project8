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Investigating Trends in Neglected Tropical Disease (NTD) Clinical Studies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16 - Lancaster University</a:t>
            </a:r>
          </a:p>
          <a:p>
            <a:r>
              <a:t>WHO ICTRP Data 1999-2023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Source: WHO ICTRP</a:t>
            </a:r>
          </a:p>
          <a:p>
            <a:pPr>
              <a:defRPr sz="1800"/>
            </a:pPr>
            <a:r>
              <a:t>Period: 1999-2023 (25 years)</a:t>
            </a:r>
          </a:p>
          <a:p>
            <a:pPr>
              <a:defRPr sz="1800"/>
            </a:pPr>
            <a:r>
              <a:t>Trials: 311 valid trials</a:t>
            </a:r>
          </a:p>
          <a:p>
            <a:pPr>
              <a:defRPr sz="1800"/>
            </a:pPr>
            <a:r>
              <a:t>Countries: 62</a:t>
            </a:r>
          </a:p>
          <a:p>
            <a:pPr>
              <a:defRPr sz="1800"/>
            </a:pPr>
            <a:r>
              <a:t>Diseases: Chagas, Schistosomiasis, Endemic worms, Visceral leishmaniasis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RQ 2.2.1: What factors affect results publication?</a:t>
            </a:r>
          </a:p>
          <a:p>
            <a:pPr>
              <a:defRPr sz="1800"/>
            </a:pPr>
            <a:r>
              <a:t>RQ 2.2.2: Can network analysis reveal country partnerships?</a:t>
            </a:r>
          </a:p>
          <a:p>
            <a:pPr>
              <a:defRPr sz="1800"/>
            </a:pPr>
            <a:r>
              <a:t>RQ 2.2.3: What proportion funded by pharma companies?</a:t>
            </a:r>
          </a:p>
          <a:p>
            <a:pPr>
              <a:defRPr sz="1800"/>
            </a:pPr>
            <a:r>
              <a:t>RQ 2.2.4: Are children and pregnant women included?</a:t>
            </a:r>
          </a:p>
          <a:p>
            <a:pPr>
              <a:defRPr sz="1800"/>
            </a:pPr>
            <a:r>
              <a:t>RQ 2.2.5: Which drugs studied for Chagas disease?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RQ 2.2.1: Publication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FINDING: Severe Publication Gap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Publication rate: 4.2% (13/311)</a:t>
            </a:r>
          </a:p>
          <a:p>
            <a:pPr>
              <a:defRPr sz="1800"/>
            </a:pPr>
            <a:r>
              <a:t>Unpublished: 95.8% (298/311)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Method: Logistic Regression</a:t>
            </a:r>
          </a:p>
          <a:p>
            <a:pPr>
              <a:defRPr sz="1800"/>
            </a:pPr>
            <a:r>
              <a:t>Features: phase, study type, sponsor, income level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Implication: Severe publication bias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RQ 2.2.1: Publication Predictors</a:t>
            </a:r>
          </a:p>
        </p:txBody>
      </p:sp>
      <p:pic>
        <p:nvPicPr>
          <p:cNvPr id="3" name="Picture 2" descr="coefficients_pl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4311462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Factors increasing (+) and decreasing (-) publication likelihood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RQ 2.2.3: Pharmaceutical Funding</a:t>
            </a:r>
          </a:p>
        </p:txBody>
      </p:sp>
      <p:pic>
        <p:nvPicPr>
          <p:cNvPr id="3" name="Picture 2" descr="sponsor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7141983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Non-profit: 66.9% | Industry: 7.4% | Government: 4.5%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RQ 2.2.3: Industry vs Disease Burden</a:t>
            </a:r>
          </a:p>
        </p:txBody>
      </p:sp>
      <p:pic>
        <p:nvPicPr>
          <p:cNvPr id="3" name="Picture 2" descr="industry_reg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3326804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60% of industry trials NOT in high-burden regions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923"/>
            <a:ext cx="8229600" cy="1143000"/>
          </a:xfrm>
        </p:spPr>
        <p:txBody>
          <a:bodyPr/>
          <a:lstStyle/>
          <a:p>
            <a:r>
              <a:t>RQ 2.2.2: Country Collaborations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325" y="1066800"/>
            <a:ext cx="8229600" cy="4525963"/>
          </a:xfrm>
        </p:spPr>
        <p:txBody>
          <a:bodyPr/>
          <a:lstStyle/>
          <a:p/>
          <a:p>
            <a:pPr>
              <a:defRPr sz="1800"/>
            </a:pPr>
            <a:r>
              <a:t>FINDING: Strong International Partnerships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Multi-country trials: 43</a:t>
            </a:r>
          </a:p>
          <a:p>
            <a:pPr>
              <a:defRPr sz="1800"/>
            </a:pPr>
            <a:r>
              <a:t>Countries in network: 43</a:t>
            </a:r>
          </a:p>
          <a:p>
            <a:pPr>
              <a:defRPr sz="1800"/>
            </a:pPr>
            <a:r>
              <a:t>Collaborative connections: 163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Top Hub Countries:</a:t>
            </a:r>
          </a:p>
          <a:p>
            <a:pPr>
              <a:defRPr sz="1800"/>
            </a:pPr>
            <a:r>
              <a:t>1. Argentina (22 partners, Centrality: 0.294)</a:t>
            </a:r>
          </a:p>
          <a:p>
            <a:pPr>
              <a:defRPr sz="1800"/>
            </a:pPr>
            <a:r>
              <a:t>2. Cambodia (18 partners, Centrality: 0.275)</a:t>
            </a:r>
          </a:p>
          <a:p>
            <a:pPr>
              <a:defRPr sz="1800"/>
            </a:pPr>
            <a:r>
              <a:t>3. Brazil (18 partners, Centrality: 0.159)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RQ 2.2.4: Special Populations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610" y="1282700"/>
            <a:ext cx="8229600" cy="4525963"/>
          </a:xfrm>
        </p:spPr>
        <p:txBody>
          <a:bodyPr/>
          <a:lstStyle/>
          <a:p/>
          <a:p>
            <a:pPr>
              <a:defRPr sz="1800"/>
            </a:pPr>
            <a:r>
              <a:t>FINDING: Limited Inclusion</a:t>
            </a:r>
          </a:p>
          <a:p>
            <a:pPr>
              <a:defRPr sz="1800"/>
            </a:pPr>
            <a:r>
              <a:t>Children:</a:t>
            </a:r>
          </a:p>
          <a:p>
            <a:pPr>
              <a:defRPr sz="1800"/>
            </a:pPr>
            <a:r>
              <a:t>  • No explicit tracking field</a:t>
            </a:r>
          </a:p>
          <a:p>
            <a:pPr>
              <a:defRPr sz="1800"/>
            </a:pPr>
            <a:r>
              <a:t>  • Estimated ~50% may include children</a:t>
            </a:r>
          </a:p>
          <a:p>
            <a:pPr>
              <a:defRPr sz="1800"/>
            </a:pPr>
            <a:r>
              <a:t>Pregnant Women:</a:t>
            </a:r>
          </a:p>
          <a:p>
            <a:pPr>
              <a:defRPr sz="1800"/>
            </a:pPr>
            <a:r>
              <a:t>  • Explicitly included: 12 trials (3.8%)</a:t>
            </a:r>
          </a:p>
          <a:p>
            <a:pPr>
              <a:defRPr sz="1800"/>
            </a:pPr>
            <a:r>
              <a:t>  • Excluded/unclear: 96.2%</a:t>
            </a:r>
          </a:p>
          <a:p>
            <a:pPr>
              <a:defRPr sz="1800"/>
            </a:pPr>
            <a:r>
              <a:t>Implication: Vulnerable populations underrepresented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55" y="21908"/>
            <a:ext cx="8229600" cy="1143000"/>
          </a:xfrm>
        </p:spPr>
        <p:txBody>
          <a:bodyPr/>
          <a:lstStyle/>
          <a:p>
            <a:r>
              <a:rPr sz="3600"/>
              <a:t>RQ 2.2.5: Drug Trends (Chagas)</a:t>
            </a:r>
            <a:endParaRPr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0450"/>
            <a:ext cx="8229600" cy="4525963"/>
          </a:xfrm>
        </p:spPr>
        <p:txBody>
          <a:bodyPr/>
          <a:lstStyle/>
          <a:p/>
          <a:p>
            <a:pPr>
              <a:defRPr sz="1800"/>
            </a:pPr>
            <a:r>
              <a:t>FINDING: Benznidazole Dominates</a:t>
            </a:r>
          </a:p>
          <a:p>
            <a:pPr>
              <a:defRPr sz="1800"/>
            </a:pPr>
            <a:r>
              <a:t>Total Chagas trials: 88</a:t>
            </a:r>
          </a:p>
          <a:p>
            <a:pPr>
              <a:defRPr sz="1800"/>
            </a:pPr>
            <a:r>
              <a:t>Method: Regex extraction</a:t>
            </a:r>
          </a:p>
          <a:p>
            <a:pPr>
              <a:defRPr sz="1800"/>
            </a:pPr>
            <a:r>
              <a:t>Top 5 Drugs:</a:t>
            </a:r>
          </a:p>
          <a:p>
            <a:pPr>
              <a:defRPr sz="1800"/>
            </a:pPr>
            <a:r>
              <a:t>1. Benznidazole - 21 trials</a:t>
            </a:r>
          </a:p>
          <a:p>
            <a:pPr>
              <a:defRPr sz="1800"/>
            </a:pPr>
            <a:r>
              <a:t>2. Placebo - 10 trials</a:t>
            </a:r>
          </a:p>
          <a:p>
            <a:pPr>
              <a:defRPr sz="1800"/>
            </a:pPr>
            <a:r>
              <a:t>3. E1224 - 6 trials</a:t>
            </a:r>
          </a:p>
          <a:p>
            <a:pPr>
              <a:defRPr sz="1800"/>
            </a:pPr>
            <a:r>
              <a:t>4. Nifurtimox - 5 trials</a:t>
            </a:r>
          </a:p>
          <a:p>
            <a:pPr>
              <a:defRPr sz="1800"/>
            </a:pPr>
            <a:r>
              <a:t>Implication: Limited drug diversity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3600"/>
              <a:t>How </a:t>
            </a:r>
            <a:r>
              <a:t>Results Address Research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Goal: Clarify evolution of NTD trial activities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Temporal Trends: 25-year coverage</a:t>
            </a:r>
          </a:p>
          <a:p>
            <a:pPr>
              <a:defRPr sz="1800"/>
            </a:pPr>
            <a:r>
              <a:t>✓ Geographic Distribution: 62 countries analyzed</a:t>
            </a:r>
          </a:p>
          <a:p>
            <a:pPr>
              <a:defRPr sz="1800"/>
            </a:pPr>
            <a:r>
              <a:t>✓ Funding Structure: Non-profit 67%, Pharma 7%</a:t>
            </a:r>
          </a:p>
          <a:p>
            <a:pPr>
              <a:defRPr sz="1800"/>
            </a:pPr>
            <a:r>
              <a:t>✓ Publication Patterns: 4.2% gap identified</a:t>
            </a:r>
          </a:p>
          <a:p>
            <a:pPr>
              <a:defRPr sz="1800"/>
            </a:pPr>
            <a:r>
              <a:t>✓ Collaboration: Network analysis reveals hubs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Discoveries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8405"/>
            <a:ext cx="8229600" cy="4525963"/>
          </a:xfrm>
        </p:spPr>
        <p:txBody>
          <a:bodyPr/>
          <a:lstStyle/>
          <a:p>
            <a:endParaRPr sz="1800"/>
          </a:p>
          <a:p>
            <a:pPr>
              <a:defRPr sz="1800"/>
            </a:pPr>
            <a:r>
              <a:rPr sz="1800"/>
              <a:t>3 Critical Findings:</a:t>
            </a:r>
            <a:endParaRPr sz="1800"/>
          </a:p>
          <a:p>
            <a:pPr>
              <a:defRPr sz="1800"/>
            </a:pPr>
            <a:endParaRPr sz="1800"/>
          </a:p>
          <a:p>
            <a:pPr>
              <a:defRPr sz="1800"/>
            </a:pPr>
            <a:r>
              <a:rPr sz="1800"/>
              <a:t>1. PUBLICATION CRISIS</a:t>
            </a:r>
            <a:endParaRPr sz="1800"/>
          </a:p>
          <a:p>
            <a:pPr>
              <a:defRPr sz="1800"/>
            </a:pPr>
            <a:r>
              <a:rPr sz="1800"/>
              <a:t>   → 95.8% unpublished</a:t>
            </a:r>
            <a:endParaRPr sz="1800"/>
          </a:p>
          <a:p>
            <a:pPr>
              <a:defRPr sz="1800"/>
            </a:pPr>
            <a:endParaRPr sz="1800"/>
          </a:p>
          <a:p>
            <a:pPr>
              <a:defRPr sz="1800"/>
            </a:pPr>
            <a:r>
              <a:rPr sz="1800"/>
              <a:t>2. FUNDING GAP</a:t>
            </a:r>
            <a:endParaRPr sz="1800"/>
          </a:p>
          <a:p>
            <a:pPr>
              <a:defRPr sz="1800"/>
            </a:pPr>
            <a:r>
              <a:rPr sz="1800"/>
              <a:t>   → Pharma 7.4%, Non-profits 67%</a:t>
            </a:r>
            <a:endParaRPr sz="1800"/>
          </a:p>
          <a:p>
            <a:pPr>
              <a:defRPr sz="1800"/>
            </a:pPr>
            <a:endParaRPr sz="1800"/>
          </a:p>
          <a:p>
            <a:pPr>
              <a:defRPr sz="1800"/>
            </a:pPr>
            <a:r>
              <a:rPr sz="1800"/>
              <a:t>3. REPRESENTATION GAP</a:t>
            </a:r>
            <a:endParaRPr sz="1800"/>
          </a:p>
          <a:p>
            <a:pPr>
              <a:defRPr sz="1800"/>
            </a:pPr>
            <a:r>
              <a:rPr sz="1800"/>
              <a:t>   → Pregnant women 3.8%, Children unclear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Challenges: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Severe publication bias (only 13 published)</a:t>
            </a:r>
          </a:p>
          <a:p>
            <a:pPr>
              <a:defRPr sz="1800"/>
            </a:pPr>
            <a:r>
              <a:t>• Data completeness (4 outliers, missing values)</a:t>
            </a:r>
          </a:p>
          <a:p>
            <a:pPr>
              <a:defRPr sz="1800"/>
            </a:pPr>
            <a:r>
              <a:t>• Classification accuracy (keyword-based)</a:t>
            </a:r>
          </a:p>
          <a:p>
            <a:pPr>
              <a:defRPr sz="1800"/>
            </a:pPr>
            <a:r>
              <a:t>• Temporal imbalance (varies by year)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Methodological </a:t>
            </a: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1200"/>
          </a:p>
          <a:p>
            <a:pPr>
              <a:defRPr sz="1800"/>
            </a:pPr>
            <a:r>
              <a:rPr sz="1200"/>
              <a:t>Analytical Challenges:</a:t>
            </a:r>
            <a:endParaRPr sz="1200"/>
          </a:p>
          <a:p>
            <a:pPr>
              <a:defRPr sz="1800"/>
            </a:pPr>
            <a:endParaRPr sz="1200"/>
          </a:p>
          <a:p>
            <a:pPr>
              <a:defRPr sz="1800"/>
            </a:pPr>
            <a:r>
              <a:rPr sz="1200"/>
              <a:t>1. Logistic Regression:</a:t>
            </a:r>
            <a:endParaRPr sz="1200"/>
          </a:p>
          <a:p>
            <a:pPr>
              <a:defRPr sz="1800"/>
            </a:pPr>
            <a:r>
              <a:rPr sz="1200"/>
              <a:t>   • Small sample (n=13)</a:t>
            </a:r>
            <a:endParaRPr sz="1200"/>
          </a:p>
          <a:p>
            <a:pPr>
              <a:defRPr sz="1800"/>
            </a:pPr>
            <a:r>
              <a:rPr sz="1200"/>
              <a:t>   • Class imbalance (4% vs 96%)</a:t>
            </a:r>
            <a:endParaRPr sz="1200"/>
          </a:p>
          <a:p>
            <a:pPr>
              <a:defRPr sz="1800"/>
            </a:pPr>
            <a:endParaRPr sz="1200"/>
          </a:p>
          <a:p>
            <a:pPr>
              <a:defRPr sz="1800"/>
            </a:pPr>
            <a:r>
              <a:rPr sz="1200"/>
              <a:t>2. Network Analysis:</a:t>
            </a:r>
            <a:endParaRPr sz="1200"/>
          </a:p>
          <a:p>
            <a:pPr>
              <a:defRPr sz="1800"/>
            </a:pPr>
            <a:r>
              <a:rPr sz="1200"/>
              <a:t>   • Country-level only</a:t>
            </a:r>
            <a:endParaRPr sz="1200"/>
          </a:p>
          <a:p>
            <a:pPr>
              <a:defRPr sz="1800"/>
            </a:pPr>
            <a:endParaRPr sz="1200"/>
          </a:p>
          <a:p>
            <a:pPr>
              <a:defRPr sz="1800"/>
            </a:pPr>
            <a:r>
              <a:rPr sz="1200"/>
              <a:t>3. Drug Extraction:</a:t>
            </a:r>
            <a:endParaRPr sz="1200"/>
          </a:p>
          <a:p>
            <a:pPr>
              <a:defRPr sz="1800"/>
            </a:pPr>
            <a:r>
              <a:rPr sz="1200"/>
              <a:t>   • Regex-based, may miss variations</a:t>
            </a:r>
            <a:endParaRPr sz="1200"/>
          </a:p>
          <a:p>
            <a:pPr>
              <a:defRPr sz="1800"/>
            </a:pPr>
            <a:endParaRPr sz="1200"/>
          </a:p>
          <a:p>
            <a:pPr>
              <a:defRPr sz="1800"/>
            </a:pPr>
            <a:r>
              <a:rPr sz="1200"/>
              <a:t>Mitigation: Stratified sampling, transparent docs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1400"/>
          </a:p>
          <a:p>
            <a:pPr>
              <a:defRPr sz="1800"/>
            </a:pPr>
            <a:r>
              <a:rPr sz="1400"/>
              <a:t>Data Collection:</a:t>
            </a:r>
            <a:endParaRPr sz="1400"/>
          </a:p>
          <a:p>
            <a:pPr>
              <a:defRPr sz="1800"/>
            </a:pPr>
            <a:r>
              <a:rPr sz="1400"/>
              <a:t>• Standardize special population fields</a:t>
            </a:r>
            <a:endParaRPr sz="1400"/>
          </a:p>
          <a:p>
            <a:pPr>
              <a:defRPr sz="1800"/>
            </a:pPr>
            <a:r>
              <a:rPr sz="1400"/>
              <a:t>• Mandate result publication</a:t>
            </a:r>
            <a:endParaRPr sz="1400"/>
          </a:p>
          <a:p>
            <a:pPr>
              <a:defRPr sz="1800"/>
            </a:pPr>
            <a:endParaRPr sz="1400"/>
          </a:p>
          <a:p>
            <a:pPr>
              <a:defRPr sz="1800"/>
            </a:pPr>
            <a:r>
              <a:rPr sz="1400"/>
              <a:t>Methodological:</a:t>
            </a:r>
            <a:endParaRPr sz="1400"/>
          </a:p>
          <a:p>
            <a:pPr>
              <a:defRPr sz="1800"/>
            </a:pPr>
            <a:r>
              <a:rPr sz="1400"/>
              <a:t>• Handle class imbalance (SMOTE)</a:t>
            </a:r>
            <a:endParaRPr sz="1400"/>
          </a:p>
          <a:p>
            <a:pPr>
              <a:defRPr sz="1800"/>
            </a:pPr>
            <a:r>
              <a:rPr sz="1400"/>
              <a:t>• Try ensemble methods</a:t>
            </a:r>
            <a:endParaRPr sz="1400"/>
          </a:p>
          <a:p>
            <a:pPr>
              <a:defRPr sz="1800"/>
            </a:pPr>
            <a:endParaRPr sz="1400"/>
          </a:p>
          <a:p>
            <a:pPr>
              <a:defRPr sz="1800"/>
            </a:pPr>
            <a:r>
              <a:rPr sz="1400"/>
              <a:t>Policy:</a:t>
            </a:r>
            <a:endParaRPr sz="1400"/>
          </a:p>
          <a:p>
            <a:pPr>
              <a:defRPr sz="1800"/>
            </a:pPr>
            <a:r>
              <a:rPr sz="1400"/>
              <a:t>• Mandate publication (address 96% gap)</a:t>
            </a:r>
            <a:endParaRPr sz="1400"/>
          </a:p>
          <a:p>
            <a:pPr>
              <a:defRPr sz="1800"/>
            </a:pPr>
            <a:r>
              <a:rPr sz="1400"/>
              <a:t>• Incentivize pharma investment</a:t>
            </a:r>
            <a:endParaRPr sz="1400"/>
          </a:p>
          <a:p>
            <a:pPr>
              <a:defRPr sz="1800"/>
            </a:pPr>
            <a:r>
              <a:rPr sz="1400"/>
              <a:t>• Target high-burden regions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of Our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1400"/>
          </a:p>
          <a:p>
            <a:pPr>
              <a:defRPr sz="1800"/>
            </a:pPr>
            <a:r>
              <a:rPr sz="1400"/>
              <a:t>✓ Comprehensive Cleaning</a:t>
            </a:r>
            <a:endParaRPr sz="1400"/>
          </a:p>
          <a:p>
            <a:pPr>
              <a:defRPr sz="1800"/>
            </a:pPr>
            <a:r>
              <a:rPr sz="1400"/>
              <a:t>  Robust outlier detection, automated classification</a:t>
            </a:r>
            <a:endParaRPr sz="1400"/>
          </a:p>
          <a:p>
            <a:pPr>
              <a:defRPr sz="1800"/>
            </a:pPr>
            <a:endParaRPr sz="1400"/>
          </a:p>
          <a:p>
            <a:pPr>
              <a:defRPr sz="1800"/>
            </a:pPr>
            <a:r>
              <a:rPr sz="1400"/>
              <a:t>✓ Multi-Method Approach</a:t>
            </a:r>
            <a:endParaRPr sz="1400"/>
          </a:p>
          <a:p>
            <a:pPr>
              <a:defRPr sz="1800"/>
            </a:pPr>
            <a:r>
              <a:rPr sz="1400"/>
              <a:t>  Statistics + ML + Network + Text Mining</a:t>
            </a:r>
            <a:endParaRPr sz="1400"/>
          </a:p>
          <a:p>
            <a:pPr>
              <a:defRPr sz="1800"/>
            </a:pPr>
            <a:endParaRPr sz="1400"/>
          </a:p>
          <a:p>
            <a:pPr>
              <a:defRPr sz="1800"/>
            </a:pPr>
            <a:r>
              <a:rPr sz="1400"/>
              <a:t>✓ Reproducible Pipeline</a:t>
            </a:r>
            <a:endParaRPr sz="1400"/>
          </a:p>
          <a:p>
            <a:pPr>
              <a:defRPr sz="1800"/>
            </a:pPr>
            <a:r>
              <a:rPr sz="1400"/>
              <a:t>  5 modular scripts, complete documentation</a:t>
            </a:r>
            <a:endParaRPr sz="1400"/>
          </a:p>
          <a:p>
            <a:pPr>
              <a:defRPr sz="1800"/>
            </a:pPr>
            <a:endParaRPr sz="1400"/>
          </a:p>
          <a:p>
            <a:pPr>
              <a:defRPr sz="1800"/>
            </a:pPr>
            <a:r>
              <a:rPr sz="1400"/>
              <a:t>✓ Transparent &amp; Practical</a:t>
            </a:r>
            <a:endParaRPr sz="1400"/>
          </a:p>
          <a:p>
            <a:pPr>
              <a:defRPr sz="1800"/>
            </a:pPr>
            <a:r>
              <a:rPr sz="1400"/>
              <a:t>  All limitations acknowledged, actionable insights</a:t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1400"/>
          </a:p>
          <a:p>
            <a:pPr>
              <a:defRPr sz="1800"/>
            </a:pPr>
            <a:r>
              <a:rPr sz="1400"/>
              <a:t>NTD research needs structural reform:</a:t>
            </a:r>
            <a:endParaRPr sz="1400"/>
          </a:p>
          <a:p>
            <a:pPr>
              <a:defRPr sz="1800"/>
            </a:pPr>
            <a:r>
              <a:rPr sz="1400"/>
              <a:t>• Better publication incentives</a:t>
            </a:r>
            <a:endParaRPr sz="1400"/>
          </a:p>
          <a:p>
            <a:pPr>
              <a:defRPr sz="1800"/>
            </a:pPr>
            <a:r>
              <a:rPr sz="1400"/>
              <a:t>• Increased pharma engagement</a:t>
            </a:r>
            <a:endParaRPr sz="1400"/>
          </a:p>
          <a:p>
            <a:pPr>
              <a:defRPr sz="1800"/>
            </a:pPr>
            <a:r>
              <a:rPr sz="1400"/>
              <a:t>• Improved data standards</a:t>
            </a:r>
            <a:endParaRPr sz="1400"/>
          </a:p>
          <a:p>
            <a:pPr>
              <a:defRPr sz="1800"/>
            </a:pPr>
            <a:r>
              <a:rPr sz="1400"/>
              <a:t>• Inclusive trial design</a:t>
            </a:r>
            <a:endParaRPr sz="1400"/>
          </a:p>
          <a:p>
            <a:pPr>
              <a:defRPr sz="1800"/>
            </a:pPr>
            <a:endParaRPr sz="1400"/>
          </a:p>
          <a:p>
            <a:pPr>
              <a:defRPr sz="1800"/>
            </a:pPr>
            <a:r>
              <a:rPr sz="1400"/>
              <a:t>Our Contribution:</a:t>
            </a:r>
            <a:endParaRPr sz="1400"/>
          </a:p>
          <a:p>
            <a:pPr>
              <a:defRPr sz="1800"/>
            </a:pPr>
            <a:r>
              <a:rPr sz="1400"/>
              <a:t>• Evidence for policy makers</a:t>
            </a:r>
            <a:endParaRPr sz="1400"/>
          </a:p>
          <a:p>
            <a:pPr>
              <a:defRPr sz="1800"/>
            </a:pPr>
            <a:r>
              <a:rPr sz="1400"/>
              <a:t>• Guidance for funders</a:t>
            </a:r>
            <a:endParaRPr sz="1400"/>
          </a:p>
          <a:p>
            <a:pPr>
              <a:defRPr sz="1800"/>
            </a:pPr>
            <a:r>
              <a:rPr sz="1400"/>
              <a:t>• Roadmap for researchers</a:t>
            </a:r>
            <a:endParaRPr sz="1400"/>
          </a:p>
          <a:p>
            <a:pPr>
              <a:defRPr sz="1800"/>
            </a:pPr>
            <a:endParaRPr sz="1400"/>
          </a:p>
          <a:p>
            <a:pPr>
              <a:defRPr sz="1800"/>
            </a:pPr>
            <a:r>
              <a:rPr sz="1400"/>
              <a:t>311 trials → 5 questions → 3 critical gaps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1050" y="120650"/>
            <a:ext cx="7772400" cy="1470025"/>
          </a:xfrm>
        </p:spPr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6845" y="1179830"/>
            <a:ext cx="6400800" cy="1752600"/>
          </a:xfrm>
        </p:spPr>
        <p:txBody>
          <a:bodyPr/>
          <a:lstStyle/>
          <a:p>
            <a:r>
              <a:t>Questions?</a:t>
            </a:r>
          </a:p>
          <a:p/>
          <a:p>
            <a:r>
              <a:t>Group 16 - Lancaster University</a:t>
            </a:r>
          </a:p>
          <a:p>
            <a:r>
              <a:t>Peizhe Jiang • Congyao Ren • Zixu Wang • Alaghwani Balsam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3844</Words>
  <Application>WPS 演示</Application>
  <PresentationFormat>On-screen Show (4:3)</PresentationFormat>
  <Paragraphs>180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Investigating Trends in Neglected Tropical Disease (NTD) Clinical Studies</vt:lpstr>
      <vt:lpstr>Project Overview</vt:lpstr>
      <vt:lpstr>Research Questions</vt:lpstr>
      <vt:lpstr>RQ 2.2.1: Publication Factors</vt:lpstr>
      <vt:lpstr>PowerPoint 演示文稿</vt:lpstr>
      <vt:lpstr>PowerPoint 演示文稿</vt:lpstr>
      <vt:lpstr>PowerPoint 演示文稿</vt:lpstr>
      <vt:lpstr>RQ 2.2.2: Country Collaborations</vt:lpstr>
      <vt:lpstr>RQ 2.2.4: Special Populations</vt:lpstr>
      <vt:lpstr>RQ 2.2.5: Drug Trends (Chagas)</vt:lpstr>
      <vt:lpstr>How Results Address Research Goals</vt:lpstr>
      <vt:lpstr>Key Discoveries</vt:lpstr>
      <vt:lpstr>Data Limitations</vt:lpstr>
      <vt:lpstr>Methodological Limitations</vt:lpstr>
      <vt:lpstr>Recommendations</vt:lpstr>
      <vt:lpstr>Strengths of Our Analysis</vt:lpstr>
      <vt:lpstr>Key Takeaways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    </cp:lastModifiedBy>
  <cp:revision>3</cp:revision>
  <dcterms:created xsi:type="dcterms:W3CDTF">2013-01-27T09:14:00Z</dcterms:created>
  <dcterms:modified xsi:type="dcterms:W3CDTF">2025-11-13T01:19:27Z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89BB2A0418AE40E18DB26184DFC697EA_13</vt:lpwstr>
  </property>
  <property fmtid="{D5CDD505-2E9C-101B-9397-08002B2CF9AE}" pid="3" name="KSOProductBuildVer">
    <vt:lpwstr>2052-12.1.0.23542</vt:lpwstr>
  </property>
</Properties>
</file>